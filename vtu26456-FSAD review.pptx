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otham" panose="020B0604020202020204" charset="0"/>
      <p:regular r:id="rId26"/>
    </p:embeddedFont>
    <p:embeddedFont>
      <p:font typeface="Gotham Bold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p:scale>
          <a:sx n="50" d="100"/>
          <a:sy n="50" d="100"/>
        </p:scale>
        <p:origin x="29" y="39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82371B-6CAE-4F17-9E93-304108621988}" type="datetimeFigureOut">
              <a:rPr lang="en-IN" smtClean="0"/>
              <a:t>22-03-2026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EF3BD6-7E61-4424-9FC4-99CD1026EE24}" type="slidenum">
              <a:rPr lang="en-IN" smtClean="0"/>
              <a:t>‹#›</a:t>
            </a:fld>
            <a:endParaRPr lang="en-IN"/>
          </a:p>
        </p:txBody>
      </p:sp>
    </p:spTree>
    <p:extLst>
      <p:ext uri="{BB962C8B-B14F-4D97-AF65-F5344CB8AC3E}">
        <p14:creationId xmlns:p14="http://schemas.microsoft.com/office/powerpoint/2010/main" val="783195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a:t>
            </a:r>
            <a:r>
              <a:rPr lang="en-IN" sz="3600" b="1">
                <a:solidFill>
                  <a:srgbClr val="C00000"/>
                </a:solidFill>
                <a:latin typeface="Arial" panose="020B0604020202020204" pitchFamily="34" charset="0"/>
                <a:cs typeface="Arial" panose="020B0604020202020204" pitchFamily="34" charset="0"/>
              </a:rPr>
              <a:t>: 23-03-2026</a:t>
            </a: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7FFE0DA2-4723-7C13-5FD7-FC99B0394DDD}"/>
              </a:ext>
            </a:extLst>
          </p:cNvPr>
          <p:cNvSpPr txBox="1"/>
          <p:nvPr/>
        </p:nvSpPr>
        <p:spPr>
          <a:xfrm>
            <a:off x="1589438" y="6057900"/>
            <a:ext cx="15784162" cy="584775"/>
          </a:xfrm>
          <a:prstGeom prst="rect">
            <a:avLst/>
          </a:prstGeom>
          <a:noFill/>
        </p:spPr>
        <p:txBody>
          <a:bodyPr wrap="square" rtlCol="0">
            <a:spAutoFit/>
          </a:bodyPr>
          <a:lstStyle/>
          <a:p>
            <a:pPr algn="ctr"/>
            <a:r>
              <a:rPr lang="en-US" sz="3200" dirty="0"/>
              <a:t>Academic Campus Event &amp; Registration Portal</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I .MOHITH SAI VENKAT  – VTU26456 – 23UECS0739</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46185" y="1263748"/>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b="1" dirty="0">
              <a:solidFill>
                <a:srgbClr val="0033CC"/>
              </a:solidFill>
            </a:endParaRPr>
          </a:p>
          <a:p>
            <a:r>
              <a:rPr lang="en-US" sz="2800" dirty="0"/>
              <a:t>Campus events are managed manually, leading to paperwork, errors, and time consumption.</a:t>
            </a:r>
          </a:p>
          <a:p>
            <a:endParaRPr lang="en-US" sz="2800" dirty="0"/>
          </a:p>
          <a:p>
            <a:r>
              <a:rPr lang="en-US" sz="2800" b="1" dirty="0">
                <a:solidFill>
                  <a:srgbClr val="0033CC"/>
                </a:solidFill>
              </a:rPr>
              <a:t>Why this project is important:</a:t>
            </a:r>
          </a:p>
          <a:p>
            <a:endParaRPr lang="en-US" sz="2800" dirty="0"/>
          </a:p>
          <a:p>
            <a:r>
              <a:rPr lang="en-US" sz="2800" dirty="0"/>
              <a:t>It automates event registration and management, reducing manual work and improving efficiency.</a:t>
            </a:r>
          </a:p>
          <a:p>
            <a:endParaRPr lang="en-US" sz="2800" b="1" dirty="0"/>
          </a:p>
          <a:p>
            <a:r>
              <a:rPr lang="en-US" sz="2800" b="1" dirty="0">
                <a:solidFill>
                  <a:srgbClr val="0033CC"/>
                </a:solidFill>
              </a:rPr>
              <a:t>Real-world relevance:</a:t>
            </a:r>
          </a:p>
          <a:p>
            <a:endParaRPr lang="en-US" sz="2800" dirty="0"/>
          </a:p>
          <a:p>
            <a:r>
              <a:rPr lang="en-US" sz="2800" dirty="0"/>
              <a:t>Useful for colleges and institutions to manage technical, cultural, and academic events digitally.</a:t>
            </a:r>
          </a:p>
          <a:p>
            <a:endParaRPr lang="en-US" sz="2800" dirty="0"/>
          </a:p>
          <a:p>
            <a:r>
              <a:rPr lang="en-US" sz="2800" b="1" dirty="0">
                <a:solidFill>
                  <a:srgbClr val="0033CC"/>
                </a:solidFill>
              </a:rPr>
              <a:t>Brief overview of the system:</a:t>
            </a:r>
          </a:p>
          <a:p>
            <a:endParaRPr lang="en-US" sz="2800" dirty="0"/>
          </a:p>
          <a:p>
            <a:r>
              <a:rPr lang="en-US" sz="2800" dirty="0"/>
              <a:t>A web-based portal where admin manages events and students register online.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8710077"/>
          </a:xfrm>
          <a:prstGeom prst="rect">
            <a:avLst/>
          </a:prstGeom>
          <a:noFill/>
        </p:spPr>
        <p:txBody>
          <a:bodyPr wrap="square" rtlCol="0">
            <a:spAutoFit/>
          </a:bodyPr>
          <a:lstStyle/>
          <a:p>
            <a:endParaRPr lang="en-US" sz="2800" dirty="0"/>
          </a:p>
          <a:p>
            <a:endParaRPr lang="en-US" sz="2800" dirty="0"/>
          </a:p>
          <a:p>
            <a:endParaRPr lang="en-US" sz="2800" dirty="0"/>
          </a:p>
          <a:p>
            <a:endParaRPr lang="en-US" sz="2800" dirty="0"/>
          </a:p>
          <a:p>
            <a:endParaRPr lang="en-US" sz="2800" dirty="0"/>
          </a:p>
          <a:p>
            <a:pPr marL="457200" indent="-457200" algn="just">
              <a:buFontTx/>
              <a:buChar char="-"/>
            </a:pPr>
            <a:r>
              <a:rPr lang="en-US" sz="2800" dirty="0"/>
              <a:t>In many educational institutions, campus events are still managed manually or through basic systems that lack proper automation and centralized control. This results in excessive paperwork, difficulty in managing multiple events, errors in registration records, and challenges in tracking participant details efficiently. Manual processes consume time, increase administrative workload, and may lead to data loss or security issues. Therefore, there is a strong need for a secure, reliable, and fully automated web-based event management system that can streamline event creation, student registration, data storage, and tracking in an efficient and organized manner.</a:t>
            </a:r>
          </a:p>
          <a:p>
            <a:pPr marL="457200" indent="-457200" algn="just">
              <a:buFontTx/>
              <a:buChar char="-"/>
            </a:pPr>
            <a:endParaRPr lang="en-US" sz="2800" dirty="0"/>
          </a:p>
          <a:p>
            <a:pPr marL="457200" indent="-457200" algn="just">
              <a:buFontTx/>
              <a:buChar char="-"/>
            </a:pPr>
            <a:endParaRPr lang="en-US" sz="2800" dirty="0"/>
          </a:p>
          <a:p>
            <a:pPr marL="457200" indent="-457200" algn="just">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76200" y="43694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209800" y="1638300"/>
            <a:ext cx="15082325" cy="7417415"/>
          </a:xfrm>
          <a:prstGeom prst="rect">
            <a:avLst/>
          </a:prstGeom>
          <a:noFill/>
        </p:spPr>
        <p:txBody>
          <a:bodyPr wrap="square" rtlCol="0">
            <a:spAutoFit/>
          </a:bodyPr>
          <a:lstStyle/>
          <a:p>
            <a:pPr marL="457200" indent="-457200">
              <a:buFontTx/>
              <a:buChar char="-"/>
            </a:pPr>
            <a:endParaRPr lang="en-US" sz="2800" dirty="0"/>
          </a:p>
          <a:p>
            <a:pPr algn="just"/>
            <a:r>
              <a:rPr lang="en-US" sz="2800" dirty="0"/>
              <a:t> </a:t>
            </a:r>
          </a:p>
          <a:p>
            <a:pPr algn="just"/>
            <a:endParaRPr lang="en-US" sz="2800" dirty="0"/>
          </a:p>
          <a:p>
            <a:pPr algn="just"/>
            <a:endParaRPr lang="en-US" sz="2800" dirty="0"/>
          </a:p>
          <a:p>
            <a:pPr algn="just"/>
            <a:endParaRPr lang="en-US" sz="2800" dirty="0"/>
          </a:p>
          <a:p>
            <a:pPr algn="just"/>
            <a:r>
              <a:rPr lang="en-US" sz="2800" dirty="0"/>
              <a:t>1. To design and develop a secure web-based Academic Campus Event Portal for efficient event creation and management.</a:t>
            </a:r>
          </a:p>
          <a:p>
            <a:pPr algn="just"/>
            <a:endParaRPr lang="en-US" sz="2800" dirty="0"/>
          </a:p>
          <a:p>
            <a:pPr algn="just"/>
            <a:r>
              <a:rPr lang="en-US" sz="2800" dirty="0"/>
              <a:t>2. To implement an online student registration system with proper data storage and easy tracking of events and participants.</a:t>
            </a:r>
          </a:p>
          <a:p>
            <a:pPr algn="just"/>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2157174"/>
          </a:xfrm>
          <a:prstGeom prst="rect">
            <a:avLst/>
          </a:prstGeom>
          <a:noFill/>
        </p:spPr>
        <p:txBody>
          <a:bodyPr wrap="square" rtlCol="0">
            <a:spAutoFit/>
          </a:bodyPr>
          <a:lstStyle/>
          <a:p>
            <a:pPr lvl="1"/>
            <a:endParaRPr lang="en-US" sz="2800" dirty="0"/>
          </a:p>
          <a:p>
            <a:pPr lvl="1"/>
            <a:endParaRPr lang="en-US" sz="2800" dirty="0"/>
          </a:p>
          <a:p>
            <a:pPr marL="971550" lvl="1" indent="-514350">
              <a:buAutoNum type="arabicPeriod"/>
            </a:pPr>
            <a:r>
              <a:rPr lang="en-US" sz="2800" dirty="0"/>
              <a:t>The system is a web-based Academic Campus Event &amp; Registration Portal.</a:t>
            </a:r>
          </a:p>
          <a:p>
            <a:pPr marL="971550" lvl="1" indent="-514350">
              <a:buAutoNum type="arabicPeriod"/>
            </a:pPr>
            <a:endParaRPr lang="en-US" sz="2800" dirty="0"/>
          </a:p>
          <a:p>
            <a:pPr marL="457200" indent="-457200">
              <a:buFontTx/>
              <a:buChar char="-"/>
            </a:pPr>
            <a:r>
              <a:rPr lang="en-US" sz="2800" dirty="0"/>
              <a:t>2. It provides secure Admin and Student login authentication.</a:t>
            </a:r>
          </a:p>
          <a:p>
            <a:pPr marL="457200" indent="-457200">
              <a:buFontTx/>
              <a:buChar char="-"/>
            </a:pPr>
            <a:endParaRPr lang="en-US" sz="2800" dirty="0"/>
          </a:p>
          <a:p>
            <a:pPr marL="457200" indent="-457200">
              <a:buFontTx/>
              <a:buChar char="-"/>
            </a:pPr>
            <a:r>
              <a:rPr lang="en-US" sz="2800" dirty="0"/>
              <a:t>3. Admin can create, update, and delete events.</a:t>
            </a:r>
          </a:p>
          <a:p>
            <a:pPr marL="457200" indent="-457200">
              <a:buFontTx/>
              <a:buChar char="-"/>
            </a:pPr>
            <a:endParaRPr lang="en-US" sz="2800" dirty="0"/>
          </a:p>
          <a:p>
            <a:pPr marL="457200" indent="-457200">
              <a:buFontTx/>
              <a:buChar char="-"/>
            </a:pPr>
            <a:r>
              <a:rPr lang="en-US" sz="2800" dirty="0"/>
              <a:t>4. Students can view available events online.</a:t>
            </a:r>
          </a:p>
          <a:p>
            <a:pPr marL="457200" indent="-457200">
              <a:buFontTx/>
              <a:buChar char="-"/>
            </a:pPr>
            <a:endParaRPr lang="en-US" sz="2800" dirty="0"/>
          </a:p>
          <a:p>
            <a:pPr marL="457200" indent="-457200">
              <a:buFontTx/>
              <a:buChar char="-"/>
            </a:pPr>
            <a:r>
              <a:rPr lang="en-US" sz="2800" dirty="0"/>
              <a:t>5. Students can register for events through the portal.</a:t>
            </a:r>
          </a:p>
          <a:p>
            <a:pPr marL="457200" indent="-457200">
              <a:buFontTx/>
              <a:buChar char="-"/>
            </a:pPr>
            <a:endParaRPr lang="en-US" sz="2800" dirty="0"/>
          </a:p>
          <a:p>
            <a:pPr marL="457200" indent="-457200">
              <a:buFontTx/>
              <a:buChar char="-"/>
            </a:pPr>
            <a:r>
              <a:rPr lang="en-US" sz="2800" dirty="0"/>
              <a:t>6. All registration data is stored securely in a database.</a:t>
            </a:r>
          </a:p>
          <a:p>
            <a:pPr marL="457200" indent="-457200">
              <a:buFontTx/>
              <a:buChar char="-"/>
            </a:pPr>
            <a:endParaRPr lang="en-US" sz="2800" dirty="0"/>
          </a:p>
          <a:p>
            <a:pPr marL="457200" indent="-457200">
              <a:buFontTx/>
              <a:buChar char="-"/>
            </a:pPr>
            <a:r>
              <a:rPr lang="en-US" sz="2800" dirty="0"/>
              <a:t>7. Admin can view and manage registered participants.</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id="{3B28D16C-07BA-60D7-A9C8-4A8BE9FA510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Admin can view and manage registered participants.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528268D9-C584-EC3C-45DD-2B13ADFA8980}"/>
              </a:ext>
            </a:extLst>
          </p:cNvPr>
          <p:cNvSpPr>
            <a:spLocks noChangeArrowheads="1"/>
          </p:cNvSpPr>
          <p:nvPr/>
        </p:nvSpPr>
        <p:spPr bwMode="auto">
          <a:xfrm>
            <a:off x="152400" y="-1707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3" name="Picture 32">
            <a:extLst>
              <a:ext uri="{FF2B5EF4-FFF2-40B4-BE49-F238E27FC236}">
                <a16:creationId xmlns:a16="http://schemas.microsoft.com/office/drawing/2014/main" id="{27376731-19F4-BBAF-73FF-6BEC1EB6E2FB}"/>
              </a:ext>
            </a:extLst>
          </p:cNvPr>
          <p:cNvPicPr>
            <a:picLocks noChangeAspect="1"/>
          </p:cNvPicPr>
          <p:nvPr/>
        </p:nvPicPr>
        <p:blipFill>
          <a:blip r:embed="rId4"/>
          <a:stretch>
            <a:fillRect/>
          </a:stretch>
        </p:blipFill>
        <p:spPr>
          <a:xfrm>
            <a:off x="2524082" y="1361789"/>
            <a:ext cx="14735218" cy="84655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r>
              <a:rPr lang="en-US" sz="2800" dirty="0"/>
              <a:t>(Add 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10" name="Picture 9">
            <a:extLst>
              <a:ext uri="{FF2B5EF4-FFF2-40B4-BE49-F238E27FC236}">
                <a16:creationId xmlns:a16="http://schemas.microsoft.com/office/drawing/2014/main" id="{EAF8B497-7332-8977-7D2C-5EEFC55F96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33800" y="2681228"/>
            <a:ext cx="11506199" cy="76057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1981200" y="1528750"/>
            <a:ext cx="15082325" cy="14742497"/>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endParaRPr lang="en-US" sz="2800" dirty="0"/>
          </a:p>
          <a:p>
            <a:r>
              <a:rPr lang="en-US" sz="2800" dirty="0">
                <a:solidFill>
                  <a:srgbClr val="0033CC"/>
                </a:solidFill>
              </a:rPr>
              <a:t>Backend:</a:t>
            </a:r>
          </a:p>
          <a:p>
            <a:endParaRPr lang="en-US" sz="2800" dirty="0">
              <a:solidFill>
                <a:srgbClr val="0033CC"/>
              </a:solidFill>
            </a:endParaRPr>
          </a:p>
          <a:p>
            <a:r>
              <a:rPr lang="en-US" sz="2800" dirty="0"/>
              <a:t>1.Java Spring Boot</a:t>
            </a:r>
          </a:p>
          <a:p>
            <a:endParaRPr lang="en-US" sz="2800" dirty="0"/>
          </a:p>
          <a:p>
            <a:r>
              <a:rPr lang="en-IN" sz="2800" b="1" dirty="0">
                <a:solidFill>
                  <a:srgbClr val="0033CC"/>
                </a:solidFill>
              </a:rPr>
              <a:t>Database:</a:t>
            </a:r>
          </a:p>
          <a:p>
            <a:endParaRPr lang="en-IN" sz="2800" b="1" dirty="0">
              <a:solidFill>
                <a:srgbClr val="0033CC"/>
              </a:solidFill>
            </a:endParaRPr>
          </a:p>
          <a:p>
            <a:r>
              <a:rPr lang="en-IN" sz="2800" dirty="0"/>
              <a:t>MySQL</a:t>
            </a:r>
          </a:p>
          <a:p>
            <a:endParaRPr lang="en-IN" sz="2800" dirty="0"/>
          </a:p>
          <a:p>
            <a:r>
              <a:rPr lang="en-US" sz="2800" b="1" dirty="0">
                <a:solidFill>
                  <a:srgbClr val="0033CC"/>
                </a:solidFill>
              </a:rPr>
              <a:t> Server:</a:t>
            </a:r>
          </a:p>
          <a:p>
            <a:r>
              <a:rPr lang="en-US" sz="2800" dirty="0"/>
              <a:t>XAMPP (Apache Server + MySQL)</a:t>
            </a:r>
          </a:p>
          <a:p>
            <a:endParaRPr lang="en-US" sz="2800" dirty="0"/>
          </a:p>
          <a:p>
            <a:r>
              <a:rPr lang="en-US" sz="2800" dirty="0">
                <a:solidFill>
                  <a:srgbClr val="0033CC"/>
                </a:solidFill>
              </a:rPr>
              <a:t>Tools:</a:t>
            </a:r>
            <a:endParaRPr lang="en-IN" sz="2800" dirty="0"/>
          </a:p>
          <a:p>
            <a:pPr marL="514350" indent="-514350">
              <a:buFontTx/>
              <a:buAutoNum type="arabicPeriod"/>
            </a:pPr>
            <a:r>
              <a:rPr lang="en-IN" sz="2800" dirty="0"/>
              <a:t>Web Browser (Chrome / Edge)</a:t>
            </a:r>
            <a:r>
              <a:rPr lang="en-US" sz="2800" dirty="0"/>
              <a:t> </a:t>
            </a:r>
          </a:p>
          <a:p>
            <a:r>
              <a:rPr lang="en-US" sz="2800" dirty="0"/>
              <a:t>2. VS Code</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029274" y="2118571"/>
            <a:ext cx="15082325" cy="10002738"/>
          </a:xfrm>
          <a:prstGeom prst="rect">
            <a:avLst/>
          </a:prstGeom>
          <a:noFill/>
        </p:spPr>
        <p:txBody>
          <a:bodyPr wrap="square" rtlCol="0">
            <a:spAutoFit/>
          </a:bodyPr>
          <a:lstStyle/>
          <a:p>
            <a:endParaRPr lang="en-IN" sz="2800" b="1" dirty="0"/>
          </a:p>
          <a:p>
            <a:r>
              <a:rPr lang="en-IN" sz="2800" b="1" dirty="0"/>
              <a:t>Module 1: User Management</a:t>
            </a:r>
          </a:p>
          <a:p>
            <a:r>
              <a:rPr lang="en-US" sz="2800" dirty="0"/>
              <a:t>This module handles Admin and Student registration, login authentication, and profile management to ensure secure access to the system.</a:t>
            </a:r>
            <a:endParaRPr lang="en-IN" sz="2800" dirty="0"/>
          </a:p>
          <a:p>
            <a:endParaRPr lang="en-IN" sz="2800" dirty="0"/>
          </a:p>
          <a:p>
            <a:r>
              <a:rPr lang="en-IN" sz="2800" b="1" dirty="0"/>
              <a:t>Module 2: </a:t>
            </a:r>
            <a:r>
              <a:rPr lang="en-IN" sz="2800" dirty="0"/>
              <a:t>Event</a:t>
            </a:r>
            <a:r>
              <a:rPr lang="en-IN" sz="2800" b="1" dirty="0"/>
              <a:t> Management</a:t>
            </a:r>
          </a:p>
          <a:p>
            <a:r>
              <a:rPr lang="en-US" sz="2800" dirty="0"/>
              <a:t>This module allows the Admin to create, update, and delete events, manage event details such as date, description, and available seats.</a:t>
            </a:r>
          </a:p>
          <a:p>
            <a:endParaRPr lang="en-IN" sz="2800" dirty="0"/>
          </a:p>
          <a:p>
            <a:r>
              <a:rPr lang="en-IN" sz="2800" b="1" dirty="0"/>
              <a:t>Module 3: </a:t>
            </a:r>
            <a:r>
              <a:rPr lang="en-IN" sz="2800" dirty="0"/>
              <a:t>Registration Management</a:t>
            </a:r>
          </a:p>
          <a:p>
            <a:r>
              <a:rPr lang="en-US" sz="2800" dirty="0"/>
              <a:t>This module enables students to view available events and register online, while storing registration details securely in the database.</a:t>
            </a:r>
            <a:r>
              <a:rPr lang="en-IN" sz="2800" dirty="0"/>
              <a:t>.</a:t>
            </a:r>
          </a:p>
          <a:p>
            <a:endParaRPr lang="en-IN" sz="2800" dirty="0"/>
          </a:p>
          <a:p>
            <a:r>
              <a:rPr lang="en-IN" sz="2800" b="1" dirty="0"/>
              <a:t>Module 4: </a:t>
            </a:r>
            <a:r>
              <a:rPr lang="en-IN" sz="2800" dirty="0"/>
              <a:t>Database Management</a:t>
            </a:r>
            <a:endParaRPr lang="en-IN" sz="2800" b="1" dirty="0"/>
          </a:p>
          <a:p>
            <a:r>
              <a:rPr lang="en-US" sz="2800" dirty="0"/>
              <a:t>This module manages data storage using MySQL (via XAMPP), including Users, Events, and Registrations tables.</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35924"/>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85746"/>
            <a:ext cx="15082325" cy="6124754"/>
          </a:xfrm>
          <a:prstGeom prst="rect">
            <a:avLst/>
          </a:prstGeom>
          <a:noFill/>
        </p:spPr>
        <p:txBody>
          <a:bodyPr wrap="square" rtlCol="0">
            <a:spAutoFit/>
          </a:bodyPr>
          <a:lstStyle/>
          <a:p>
            <a:r>
              <a:rPr lang="en-US" sz="2800" dirty="0">
                <a:solidFill>
                  <a:srgbClr val="0033CC"/>
                </a:solidFill>
              </a:rPr>
              <a:t>Login Page / Home Page:</a:t>
            </a: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8" name="Picture 37">
            <a:extLst>
              <a:ext uri="{FF2B5EF4-FFF2-40B4-BE49-F238E27FC236}">
                <a16:creationId xmlns:a16="http://schemas.microsoft.com/office/drawing/2014/main" id="{22D73D2C-3ABB-0961-4217-FCAB186597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99800" y="2336646"/>
            <a:ext cx="14323230" cy="7365468"/>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6124754"/>
          </a:xfrm>
          <a:prstGeom prst="rect">
            <a:avLst/>
          </a:prstGeom>
          <a:noFill/>
        </p:spPr>
        <p:txBody>
          <a:bodyPr wrap="square" rtlCol="0">
            <a:spAutoFit/>
          </a:bodyPr>
          <a:lstStyle/>
          <a:p>
            <a:r>
              <a:rPr lang="en-US" sz="2800" dirty="0">
                <a:solidFill>
                  <a:srgbClr val="0033CC"/>
                </a:solidFill>
              </a:rPr>
              <a:t>Student Login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E2F925C9-3DC6-9D2C-BC59-4794D36742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72265" y="2402411"/>
            <a:ext cx="13923612" cy="7382707"/>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0AC9DAC2-A4B3-6E01-39F5-1A6A7B61C2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85059" y="6019380"/>
            <a:ext cx="7170247" cy="3722035"/>
          </a:xfrm>
          <a:prstGeom prst="rect">
            <a:avLst/>
          </a:prstGeom>
        </p:spPr>
      </p:pic>
      <p:pic>
        <p:nvPicPr>
          <p:cNvPr id="38" name="Picture 37">
            <a:extLst>
              <a:ext uri="{FF2B5EF4-FFF2-40B4-BE49-F238E27FC236}">
                <a16:creationId xmlns:a16="http://schemas.microsoft.com/office/drawing/2014/main" id="{82C97264-9598-D5C1-2592-4AE0FA567C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97290" y="1438741"/>
            <a:ext cx="7121429" cy="4385644"/>
          </a:xfrm>
          <a:prstGeom prst="rect">
            <a:avLst/>
          </a:prstGeom>
        </p:spPr>
      </p:pic>
      <p:pic>
        <p:nvPicPr>
          <p:cNvPr id="5" name="Picture 4">
            <a:extLst>
              <a:ext uri="{FF2B5EF4-FFF2-40B4-BE49-F238E27FC236}">
                <a16:creationId xmlns:a16="http://schemas.microsoft.com/office/drawing/2014/main" id="{26D14F75-32A6-0742-FD41-36FABEB3319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21094" y="1438741"/>
            <a:ext cx="7194447" cy="8302674"/>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9BBA4BCB-01D4-15FE-654E-C37E55A29802}"/>
              </a:ext>
            </a:extLst>
          </p:cNvPr>
          <p:cNvPicPr>
            <a:picLocks noChangeAspect="1"/>
          </p:cNvPicPr>
          <p:nvPr/>
        </p:nvPicPr>
        <p:blipFill>
          <a:blip r:embed="rId4">
            <a:extLst>
              <a:ext uri="{28A0092B-C50C-407E-A947-70E740481C1C}">
                <a14:useLocalDpi xmlns:a14="http://schemas.microsoft.com/office/drawing/2010/main" val="0"/>
              </a:ext>
            </a:extLst>
          </a:blip>
          <a:srcRect l="18636" r="20095"/>
          <a:stretch>
            <a:fillRect/>
          </a:stretch>
        </p:blipFill>
        <p:spPr>
          <a:xfrm>
            <a:off x="9407074" y="1640594"/>
            <a:ext cx="7188802" cy="3962400"/>
          </a:xfrm>
          <a:prstGeom prst="rect">
            <a:avLst/>
          </a:prstGeom>
        </p:spPr>
      </p:pic>
      <p:pic>
        <p:nvPicPr>
          <p:cNvPr id="6" name="Picture 5">
            <a:extLst>
              <a:ext uri="{FF2B5EF4-FFF2-40B4-BE49-F238E27FC236}">
                <a16:creationId xmlns:a16="http://schemas.microsoft.com/office/drawing/2014/main" id="{A2FBC83C-0CF4-7DA3-A7F9-8F2C3C0EEA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61549" y="1642887"/>
            <a:ext cx="7013743" cy="3957814"/>
          </a:xfrm>
          <a:prstGeom prst="rect">
            <a:avLst/>
          </a:prstGeom>
        </p:spPr>
      </p:pic>
      <p:pic>
        <p:nvPicPr>
          <p:cNvPr id="45" name="Picture 44">
            <a:extLst>
              <a:ext uri="{FF2B5EF4-FFF2-40B4-BE49-F238E27FC236}">
                <a16:creationId xmlns:a16="http://schemas.microsoft.com/office/drawing/2014/main" id="{AD28DAB7-2B30-791B-2C01-29C005F6AD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60691" y="5967384"/>
            <a:ext cx="7013743" cy="4084457"/>
          </a:xfrm>
          <a:prstGeom prst="rect">
            <a:avLst/>
          </a:prstGeom>
        </p:spPr>
      </p:pic>
      <p:pic>
        <p:nvPicPr>
          <p:cNvPr id="4" name="Picture 3">
            <a:extLst>
              <a:ext uri="{FF2B5EF4-FFF2-40B4-BE49-F238E27FC236}">
                <a16:creationId xmlns:a16="http://schemas.microsoft.com/office/drawing/2014/main" id="{97DEDB04-3343-3BC5-3C1B-68159147B97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06215" y="5986264"/>
            <a:ext cx="7188801" cy="4115958"/>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dirty="0">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710077"/>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pPr marL="514350" indent="-514350">
              <a:buAutoNum type="arabicPeriod"/>
            </a:pPr>
            <a:r>
              <a:rPr lang="en-US" sz="2800" dirty="0"/>
              <a:t>Reduces manual paperwork and saves time</a:t>
            </a:r>
          </a:p>
          <a:p>
            <a:pPr marL="514350" indent="-514350">
              <a:buAutoNum type="arabicPeriod"/>
            </a:pPr>
            <a:r>
              <a:rPr lang="en-US" sz="2800" dirty="0"/>
              <a:t>Provides centralized and secure event management.</a:t>
            </a:r>
          </a:p>
          <a:p>
            <a:r>
              <a:rPr lang="en-US" sz="2800" dirty="0"/>
              <a:t>3.   Improves accuracy in storing and tracking registration data.</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a:t>1. Requires </a:t>
            </a:r>
            <a:r>
              <a:rPr lang="en-US" sz="2800" dirty="0"/>
              <a:t>continuous internet connection to access the portal.</a:t>
            </a:r>
          </a:p>
          <a:p>
            <a:r>
              <a:rPr lang="en-US" sz="2800" dirty="0"/>
              <a:t>2. Depends on XAMPP server availability for database access.</a:t>
            </a:r>
          </a:p>
          <a:p>
            <a:r>
              <a:rPr lang="en-US" sz="2800" dirty="0"/>
              <a:t>3. Limited to basic event management features.</a:t>
            </a:r>
          </a:p>
          <a:p>
            <a:r>
              <a:rPr lang="en-US" sz="2800" dirty="0"/>
              <a:t>4. Requires technical knowledge for maintenance and security configuration.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418</TotalTime>
  <Words>805</Words>
  <Application>Microsoft Office PowerPoint</Application>
  <PresentationFormat>Custom</PresentationFormat>
  <Paragraphs>354</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Cambria</vt:lpstr>
      <vt:lpstr>Gotham Bold Italics</vt:lpstr>
      <vt:lpstr>Bookman Old Style</vt:lpstr>
      <vt:lpstr>Gotham</vt: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cp:lastModifiedBy>immadisetty mohith</cp:lastModifiedBy>
  <cp:revision>16</cp:revision>
  <dcterms:created xsi:type="dcterms:W3CDTF">2006-08-16T00:00:00Z</dcterms:created>
  <dcterms:modified xsi:type="dcterms:W3CDTF">2026-03-22T13:33:40Z</dcterms:modified>
  <dc:identifier>DAHCaYqJ9OU</dc:identifier>
</cp:coreProperties>
</file>